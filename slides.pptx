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7" r:id="rId10"/>
    <p:sldId id="28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7"/>
    <p:restoredTop sz="94658"/>
  </p:normalViewPr>
  <p:slideViewPr>
    <p:cSldViewPr snapToGrid="0" snapToObjects="1">
      <p:cViewPr varScale="1">
        <p:scale>
          <a:sx n="84" d="100"/>
          <a:sy n="84" d="100"/>
        </p:scale>
        <p:origin x="216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540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159000"/>
            <a:ext cx="10668000" cy="96026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6000" b="1" dirty="0">
                <a:solidFill>
                  <a:srgbClr val="570A57"/>
                </a:solidFill>
                <a:latin typeface="Playfair Display"/>
              </a:rPr>
              <a:t>MONRP × SlowSoup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03600"/>
            <a:ext cx="1066800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200" dirty="0">
                <a:solidFill>
                  <a:srgbClr val="1B4D5A"/>
                </a:solidFill>
                <a:latin typeface="Inter"/>
              </a:rPr>
              <a:t>Multi-Objective Optimization of LLM-Based Clue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953000"/>
            <a:ext cx="106680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600" b="1" spc="200" dirty="0">
                <a:solidFill>
                  <a:srgbClr val="1A1A1A"/>
                </a:solidFill>
                <a:latin typeface="Inter"/>
              </a:rPr>
              <a:t>JERRY WU + GUANQIAO CHEN</a:t>
            </a:r>
            <a:endParaRPr lang="en-US" sz="1600" spc="20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461000"/>
            <a:ext cx="10668000" cy="26776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500" dirty="0">
                <a:solidFill>
                  <a:srgbClr val="6B6B6B"/>
                </a:solidFill>
                <a:latin typeface="Inter"/>
              </a:rPr>
              <a:t>NSGA-II  ·  SPEA2  ·  Random Search</a:t>
            </a:r>
          </a:p>
        </p:txBody>
      </p:sp>
      <p:sp>
        <p:nvSpPr>
          <p:cNvPr id="100" name="GoldRule"/>
          <p:cNvSpPr/>
          <p:nvPr/>
        </p:nvSpPr>
        <p:spPr>
          <a:xfrm>
            <a:off x="762000" y="4508500"/>
            <a:ext cx="1016000" cy="508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420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Lateral-thinking puzzles need clues that hint without spoiling.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968500"/>
            <a:ext cx="11176000" cy="207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LLM clue generation has many knobs: model, prompt, clue count, temperature.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Two goals pull against each other: lower API cost vs. higher clue quality.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No single best config exists — we want the Pareto front.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Question: do multi-objective evolutionary algorithms beat random search at finding it?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Dataset: lateral-thinking puzzles from Chen et al. (NeurIPS 2024).</a:t>
            </a:r>
          </a:p>
        </p:txBody>
      </p:sp>
      <p:sp>
        <p:nvSpPr>
          <p:cNvPr id="1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000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Search Space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651000"/>
            <a:ext cx="53975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800" b="1" spc="100" dirty="0">
                <a:solidFill>
                  <a:srgbClr val="1B4D5A"/>
                </a:solidFill>
                <a:latin typeface="Inter"/>
              </a:rPr>
              <a:t>DECISION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159000"/>
            <a:ext cx="5397500" cy="1515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Groq model  (categorical)</a:t>
            </a:r>
          </a:p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Prompt template / decomposition strategy  (categorical)</a:t>
            </a:r>
          </a:p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Number of clues — integer [3, 8]</a:t>
            </a:r>
          </a:p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Temperature — continuous [0.0, 1.0]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0" y="1651000"/>
            <a:ext cx="539750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800" b="1" spc="100" dirty="0">
                <a:solidFill>
                  <a:srgbClr val="1B4D5A"/>
                </a:solidFill>
                <a:latin typeface="Inter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0" y="2159000"/>
            <a:ext cx="5397500" cy="1490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Minimize cost — Groq API $/puzzle</a:t>
            </a:r>
          </a:p>
          <a:p>
            <a:pPr marL="285750" indent="-285750" algn="l">
              <a:lnSpc>
                <a:spcPts val="2200"/>
              </a:lnSpc>
              <a:spcAft>
                <a:spcPts val="8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Maximize quality — Claude grader @ T=0</a:t>
            </a:r>
          </a:p>
          <a:p>
            <a:pPr marL="571500" lvl="1" indent="-285750" algn="l">
              <a:lnSpc>
                <a:spcPts val="2200"/>
              </a:lnSpc>
              <a:spcAft>
                <a:spcPts val="600"/>
              </a:spcAft>
              <a:buClr>
                <a:srgbClr val="1B4D5A"/>
              </a:buClr>
              <a:buFont typeface="Arial"/>
              <a:buChar char="–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Non-revelation (0–3)</a:t>
            </a:r>
          </a:p>
          <a:p>
            <a:pPr marL="571500" lvl="1" indent="-285750" algn="l">
              <a:lnSpc>
                <a:spcPts val="2200"/>
              </a:lnSpc>
              <a:spcAft>
                <a:spcPts val="600"/>
              </a:spcAft>
              <a:buClr>
                <a:srgbClr val="1B4D5A"/>
              </a:buClr>
              <a:buFont typeface="Arial"/>
              <a:buChar char="–"/>
            </a:pPr>
            <a:r>
              <a:rPr lang="en-US" sz="1700" dirty="0">
                <a:solidFill>
                  <a:srgbClr val="2A2A2A"/>
                </a:solidFill>
                <a:latin typeface="Inter"/>
              </a:rPr>
              <a:t>Coverage (0–3)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599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Each evaluation = generate → grade → aggregate → cache.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000" y="2476500"/>
            <a:ext cx="2095500" cy="1206500"/>
          </a:xfrm>
          <a:prstGeom prst="round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FFFFFF"/>
                </a:solidFill>
                <a:latin typeface="Inter"/>
              </a:rPr>
              <a:t>Candidate config</a:t>
            </a:r>
          </a:p>
          <a:p>
            <a:pPr algn="ctr"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(model, prompt, n, 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4000" y="2476500"/>
            <a:ext cx="2095500" cy="1206500"/>
          </a:xfrm>
          <a:prstGeom prst="roundRect">
            <a:avLst/>
          </a:prstGeom>
          <a:solidFill>
            <a:srgbClr val="1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FFFFFF"/>
                </a:solidFill>
                <a:latin typeface="Inter"/>
              </a:rPr>
              <a:t>Groq</a:t>
            </a:r>
          </a:p>
          <a:p>
            <a:pPr algn="ctr"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clue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0" y="2476500"/>
            <a:ext cx="2095500" cy="1206500"/>
          </a:xfrm>
          <a:prstGeom prst="round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FFFFFF"/>
                </a:solidFill>
                <a:latin typeface="Inter"/>
              </a:rPr>
              <a:t>Claude grader</a:t>
            </a:r>
          </a:p>
          <a:p>
            <a:pPr algn="ctr"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(rubric @ T=0)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0" y="2476500"/>
            <a:ext cx="2095500" cy="1206500"/>
          </a:xfrm>
          <a:prstGeom prst="roundRect">
            <a:avLst/>
          </a:prstGeom>
          <a:solidFill>
            <a:srgbClr val="1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FFFFFF"/>
                </a:solidFill>
                <a:latin typeface="Inter"/>
              </a:rPr>
              <a:t>Mean cost,</a:t>
            </a:r>
          </a:p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FFFFFF"/>
                </a:solidFill>
                <a:latin typeface="Inter"/>
              </a:rPr>
              <a:t>Mean Quality</a:t>
            </a:r>
          </a:p>
          <a:p>
            <a:pPr algn="ctr">
              <a:lnSpc>
                <a:spcPts val="1800"/>
              </a:lnSpc>
            </a:pPr>
            <a:r>
              <a:rPr lang="en-US" sz="1300" dirty="0">
                <a:solidFill>
                  <a:srgbClr val="FFFFFF"/>
                </a:solidFill>
                <a:latin typeface="Inter"/>
              </a:rPr>
              <a:t>(Over 5 puzzles)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52000" y="2476500"/>
            <a:ext cx="2095500" cy="1206500"/>
          </a:xfrm>
          <a:prstGeom prst="roundRect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2000"/>
              </a:lnSpc>
            </a:pPr>
            <a:r>
              <a:rPr lang="en-US" sz="1500" b="1" dirty="0">
                <a:solidFill>
                  <a:srgbClr val="1A1A1A"/>
                </a:solidFill>
                <a:latin typeface="Inter"/>
              </a:rPr>
              <a:t>Cache</a:t>
            </a:r>
          </a:p>
          <a:p>
            <a:pPr algn="ctr">
              <a:lnSpc>
                <a:spcPts val="1800"/>
              </a:lnSpc>
            </a:pPr>
            <a:r>
              <a:rPr lang="en-US" sz="1300" dirty="0">
                <a:solidFill>
                  <a:srgbClr val="1A1A1A"/>
                </a:solidFill>
                <a:latin typeface="Inter"/>
              </a:rPr>
              <a:t>SHA-256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16200" y="2990850"/>
            <a:ext cx="165100" cy="177800"/>
          </a:xfrm>
          <a:prstGeom prst="right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902200" y="2990850"/>
            <a:ext cx="165100" cy="177800"/>
          </a:xfrm>
          <a:prstGeom prst="right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188200" y="2990850"/>
            <a:ext cx="165100" cy="177800"/>
          </a:xfrm>
          <a:prstGeom prst="right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9474200" y="2990850"/>
            <a:ext cx="165100" cy="177800"/>
          </a:xfrm>
          <a:prstGeom prst="right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00" y="4191000"/>
            <a:ext cx="11176000" cy="109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500" dirty="0">
                <a:solidFill>
                  <a:srgbClr val="2A2A2A"/>
                </a:solidFill>
                <a:latin typeface="Inter"/>
              </a:rPr>
              <a:t>Fixed puzzle sample (PUZZLE_SEED = 42) so every config faces the same problems.</a:t>
            </a:r>
          </a:p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500" dirty="0">
                <a:solidFill>
                  <a:srgbClr val="2A2A2A"/>
                </a:solidFill>
                <a:latin typeface="Inter"/>
              </a:rPr>
              <a:t>Failed evals → [cost=1.0, quality=0.0] so the optimizer learns to avoid them.</a:t>
            </a:r>
          </a:p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500" dirty="0">
                <a:solidFill>
                  <a:srgbClr val="2A2A2A"/>
                </a:solidFill>
                <a:latin typeface="Inter"/>
              </a:rPr>
              <a:t>Cache keyed by SHA-256 of (config + puzzle indices) — repeat configs are free.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16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Apples-to-apples evaluation budget per (algorithm, seed).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968500"/>
            <a:ext cx="11176000" cy="207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Algorithms: NSGA-II, SPEA2, Uniform Random Search.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Each algorithm × 5 independent seeds on the same puzzle sample.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Budget per run: POP × GENS = 10 × 5 = 50 evaluations.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Metric: 2-D hypervolume of final non-dominated front vs. a shared reference.</a:t>
            </a:r>
          </a:p>
          <a:p>
            <a:pPr marL="285750" indent="-285750" algn="l">
              <a:lnSpc>
                <a:spcPts val="2400"/>
              </a:lnSpc>
              <a:spcAft>
                <a:spcPts val="9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1800" dirty="0">
                <a:solidFill>
                  <a:srgbClr val="2A2A2A"/>
                </a:solidFill>
                <a:latin typeface="Inter"/>
              </a:rPr>
              <a:t>Statistics: pairwise two-sided Mann-Whitney U + Vargha-Delaney A12.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869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Result — Pareto Fronts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Faded = each seed; bold = best-HV seed per algorithm.</a:t>
            </a:r>
          </a:p>
        </p:txBody>
      </p:sp>
      <p:pic>
        <p:nvPicPr>
          <p:cNvPr id="6" name="Picture 5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97" y="1717040"/>
            <a:ext cx="6591300" cy="4699000"/>
          </a:xfrm>
          <a:prstGeom prst="rect">
            <a:avLst/>
          </a:prstGeom>
        </p:spPr>
      </p:pic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450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Convergence &amp; Final-HV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Median cumulative HV (IQR band) + final-HV across seeds.</a:t>
            </a:r>
          </a:p>
        </p:txBody>
      </p:sp>
      <p:pic>
        <p:nvPicPr>
          <p:cNvPr id="6" name="Picture 5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977412"/>
            <a:ext cx="5867556" cy="4194788"/>
          </a:xfrm>
          <a:prstGeom prst="rect">
            <a:avLst/>
          </a:prstGeom>
        </p:spPr>
      </p:pic>
      <p:pic>
        <p:nvPicPr>
          <p:cNvPr id="7" name="Picture 6" descr="hv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4" y="1977412"/>
            <a:ext cx="5867556" cy="4194788"/>
          </a:xfrm>
          <a:prstGeom prst="rect">
            <a:avLst/>
          </a:prstGeom>
        </p:spPr>
      </p:pic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807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270000"/>
            <a:ext cx="11176000" cy="2985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700" i="1" dirty="0">
                <a:solidFill>
                  <a:srgbClr val="1B4D5A"/>
                </a:solidFill>
                <a:latin typeface="Inter"/>
              </a:rPr>
              <a:t>Final-HV across 5 seeds per algorithm.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84794"/>
              </p:ext>
            </p:extLst>
          </p:nvPr>
        </p:nvGraphicFramePr>
        <p:xfrm>
          <a:off x="507847" y="2206671"/>
          <a:ext cx="548640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Median HV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HV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Std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NSGA-II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1.12e-4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SPEA2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5.23e-5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0.001019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1.03e-4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593061"/>
              </p:ext>
            </p:extLst>
          </p:nvPr>
        </p:nvGraphicFramePr>
        <p:xfrm>
          <a:off x="6273494" y="2206671"/>
          <a:ext cx="548640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Pair (A vs B)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A12</a:t>
                      </a:r>
                    </a:p>
                  </a:txBody>
                  <a:tcPr>
                    <a:solidFill>
                      <a:srgbClr val="570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NSGA-II vs SPEA2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0.8413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0.560 (small)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NSGA-II vs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0.4206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0.680 (medium)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300"/>
                        <a:t>SPEA2 vs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0.6905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0.600 (small)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7847" y="4647545"/>
            <a:ext cx="1117600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NSGA-II shows the largest A12 vs. Random (0.68, medium effect) but does not reach significance at n=5.</a:t>
            </a:r>
          </a:p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Medians are within 5e-6 of each other — budget is too small to separate the algorithms.</a:t>
            </a:r>
          </a:p>
          <a:p>
            <a:pPr marL="285750" indent="-285750" algn="l">
              <a:lnSpc>
                <a:spcPts val="2200"/>
              </a:lnSpc>
              <a:spcAft>
                <a:spcPts val="7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Direction is consistent with theory; signal strength is limited by seed count.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989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778000"/>
            <a:ext cx="11176000" cy="330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Clue count is a fixed gene — ideally adapt to puzzle difficulty or let the model decide.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Grading uses 1 Claude run (T=0). Deviation across runs was minimal, but a 3-run average would be more defensible.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5 seeds per algorithm is statistically thin; scale to 10–30 seeds for tighter Mann-Whitney signal.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Budget per run (POP=10, GENS=5 → 50 evals) is modest — differences between optimizers may surface at larger budgets.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Add more categorical options (models, prompts) to widen the search space.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233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70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57200"/>
            <a:ext cx="111760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3600" b="1" dirty="0">
                <a:solidFill>
                  <a:srgbClr val="570A57"/>
                </a:solidFill>
                <a:latin typeface="Playfair Display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778000"/>
            <a:ext cx="11176000" cy="258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Framed LLM clue generation as a 2-objective optimization problem (cost ↔ quality).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Built a fully cached, resumable sweep around NSGA-II / SPEA2 / Random with a shared eval budget.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Hypervolume + Mann-Whitney + A12 gives a principled comparison protocol.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Current results: NSGA-II trends ahead of Random (A12 = 0.68), but n=5 is not enough for significance.</a:t>
            </a:r>
          </a:p>
          <a:p>
            <a:pPr marL="285750" indent="-285750" algn="l">
              <a:lnSpc>
                <a:spcPts val="2800"/>
              </a:lnSpc>
              <a:spcAft>
                <a:spcPts val="1400"/>
              </a:spcAft>
              <a:buClr>
                <a:srgbClr val="C89B3C"/>
              </a:buClr>
              <a:buFont typeface="Arial"/>
              <a:buChar char="•"/>
            </a:pPr>
            <a:r>
              <a:rPr lang="en-US" sz="2000" dirty="0">
                <a:solidFill>
                  <a:srgbClr val="2A2A2A"/>
                </a:solidFill>
                <a:latin typeface="Inter"/>
              </a:rPr>
              <a:t>Next step: more seeds, larger budget, adaptive clue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1064240" cy="4370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300" dirty="0">
                <a:solidFill>
                  <a:srgbClr val="555555"/>
                </a:solidFill>
                <a:latin typeface="Inter"/>
              </a:rPr>
              <a:t>github: clue-gen-optimization  ·  dataset: Chen, Q., Zhang, B., Wang, G., Wu, Q. (2024). </a:t>
            </a:r>
            <a:r>
              <a:rPr lang="en-US" sz="1300" i="1" dirty="0">
                <a:solidFill>
                  <a:srgbClr val="555555"/>
                </a:solidFill>
                <a:latin typeface="Inter"/>
              </a:rPr>
              <a:t>Weak-eval-Strong: Evaluating and Eliciting Lateral Thinking of LLMs with Situation Puzzles (SPLAT)</a:t>
            </a:r>
            <a:r>
              <a:rPr lang="en-US" sz="1300" dirty="0">
                <a:solidFill>
                  <a:srgbClr val="555555"/>
                </a:solidFill>
                <a:latin typeface="Inter"/>
              </a:rPr>
              <a:t>. NeurIPS 2024. arXiv:2410.06733.</a:t>
            </a:r>
          </a:p>
        </p:txBody>
      </p:sp>
      <p:sp>
        <p:nvSpPr>
          <p:cNvPr id="200" name="GoldRule"/>
          <p:cNvSpPr/>
          <p:nvPr/>
        </p:nvSpPr>
        <p:spPr>
          <a:xfrm>
            <a:off x="635000" y="1092200"/>
            <a:ext cx="762000" cy="38100"/>
          </a:xfrm>
          <a:prstGeom prst="rect">
            <a:avLst/>
          </a:prstGeom>
          <a:solidFill>
            <a:srgbClr val="C89B3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804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B94C19-9013-7A40-9677-2AE97D09E28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e1967b1-8d08-4537-9129-1df1211c2f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719</Words>
  <Application>Microsoft Macintosh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Calibri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Jerry Wu</cp:lastModifiedBy>
  <cp:revision>4</cp:revision>
  <dcterms:created xsi:type="dcterms:W3CDTF">2013-01-27T09:14:16Z</dcterms:created>
  <dcterms:modified xsi:type="dcterms:W3CDTF">2026-05-14T03:44:05Z</dcterms:modified>
  <cp:category/>
</cp:coreProperties>
</file>